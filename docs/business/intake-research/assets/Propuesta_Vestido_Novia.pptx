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22 at 23.31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36592" y="1188720"/>
            <a:ext cx="36576" cy="274320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19472" y="11887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8966E"/>
                </a:solidFill>
                <a:latin typeface="Calibri"/>
              </a:rPr>
              <a:t>ATELIER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9472" y="1572768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Propuesta
de Diseño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19472" y="248716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i="1">
                <a:solidFill>
                  <a:srgbClr val="B8966E"/>
                </a:solidFill>
                <a:latin typeface="Georgia"/>
              </a:rPr>
              <a:t>Novia Verano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19472" y="3063240"/>
            <a:ext cx="3474720" cy="16459"/>
          </a:xfrm>
          <a:prstGeom prst="rect">
            <a:avLst/>
          </a:prstGeom>
          <a:solidFill>
            <a:srgbClr val="7A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19472" y="32186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46E"/>
                </a:solidFill>
                <a:latin typeface="Calibri"/>
              </a:rPr>
              <a:t>Crepé · Gasa · Popelín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9472" y="35844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746E"/>
                </a:solidFill>
                <a:latin typeface="Calibri"/>
              </a:rPr>
              <a:t>Junio · España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22 at 23.29.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3749039" cy="4686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80560" y="27432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8966E"/>
                </a:solidFill>
                <a:latin typeface="Calibri"/>
              </a:rPr>
              <a:t>VISTA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59436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714"/>
                </a:solidFill>
                <a:latin typeface="Georgia"/>
              </a:rPr>
              <a:t>El Vestido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188720"/>
            <a:ext cx="4297680" cy="16459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0" y="1325880"/>
            <a:ext cx="960120" cy="27432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362456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7A746E"/>
                </a:solidFill>
                <a:latin typeface="Calibri"/>
              </a:rPr>
              <a:t>SILUETA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34416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Corte A, fluida desde la cintura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64792"/>
            <a:ext cx="960120" cy="27432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01368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7A746E"/>
                </a:solidFill>
                <a:latin typeface="Calibri"/>
              </a:rPr>
              <a:t>ESCOTE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830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Cuadrado — moderno y favorecedor
en clavícula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203704"/>
            <a:ext cx="960120" cy="27432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4028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7A746E"/>
                </a:solidFill>
                <a:latin typeface="Calibri"/>
              </a:rPr>
              <a:t>TEJIDO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2199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Crepé marfil — cuerpo, caída
y frescura para junio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642616"/>
            <a:ext cx="960120" cy="27432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7A746E"/>
                </a:solidFill>
                <a:latin typeface="Calibri"/>
              </a:rPr>
              <a:t>COLA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660904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70 cm integrada en el vuelo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081528"/>
            <a:ext cx="960120" cy="27432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11810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7A746E"/>
                </a:solidFill>
                <a:latin typeface="Calibri"/>
              </a:rPr>
              <a:t>COLOR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09981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Marfil cálido / blanco roto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703320"/>
            <a:ext cx="4297680" cy="594360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813048"/>
            <a:ext cx="3977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7A746E"/>
                </a:solidFill>
                <a:latin typeface="Georgia"/>
              </a:rPr>
              <a:t>La capa de gasa se muestra
en la siguiente diapositiva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22 at 23.31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"/>
            <a:ext cx="3749039" cy="48143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8966E"/>
                </a:solidFill>
                <a:latin typeface="Calibri"/>
              </a:rPr>
              <a:t>LA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Vista Trasera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297680" cy="16459"/>
          </a:xfrm>
          <a:prstGeom prst="rect">
            <a:avLst/>
          </a:prstGeom>
          <a:solidFill>
            <a:srgbClr val="7A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45720" cy="50292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966E"/>
                </a:solidFill>
                <a:latin typeface="Calibri"/>
              </a:rPr>
              <a:t>PANEL FRONTAL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E4DF"/>
                </a:solidFill>
                <a:latin typeface="Calibri"/>
              </a:rPr>
              <a:t>Gasa transparente blanca
de hombros hasta la cintura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45720" cy="50292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966E"/>
                </a:solidFill>
                <a:latin typeface="Calibri"/>
              </a:rPr>
              <a:t>COLA TRASERA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E4DF"/>
                </a:solidFill>
                <a:latin typeface="Calibri"/>
              </a:rPr>
              <a:t>Se extiende en una cola
catedral de 1 metro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16352"/>
            <a:ext cx="45720" cy="50292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966E"/>
                </a:solidFill>
                <a:latin typeface="Calibri"/>
              </a:rPr>
              <a:t>DOBLE COLA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44952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E4DF"/>
                </a:solidFill>
                <a:latin typeface="Calibri"/>
              </a:rPr>
              <a:t>Dos colas distintas:
vuelo del vestido + cola de capa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45720" cy="50292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B8966E"/>
                </a:solidFill>
                <a:latin typeface="Calibri"/>
              </a:rPr>
              <a:t>TEJIDO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5818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8E4DF"/>
                </a:solidFill>
                <a:latin typeface="Calibri"/>
              </a:rPr>
              <a:t>Popelín estructurado con
gasa en panel frontal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8966E"/>
                </a:solidFill>
                <a:latin typeface="Calibri"/>
              </a:rPr>
              <a:t>BOCETO DE MODA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714"/>
                </a:solidFill>
                <a:latin typeface="Georgia"/>
              </a:rPr>
              <a:t>Ilustración
de Moda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27632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A746E"/>
                </a:solidFill>
                <a:latin typeface="Calibri"/>
              </a:rPr>
              <a:t>El boceto captura la esencia
del diseño: la pureza del
crepé, la ligereza de la gasa
y el drama de la doble cola.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944368"/>
            <a:ext cx="2103120" cy="16459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06324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A746E"/>
                </a:solidFill>
                <a:latin typeface="Georgia"/>
              </a:rPr>
              <a:t>Herramienta de trabajo en
la fase de descubrimiento —
para afinar detalles contigo.</a:t>
            </a:r>
          </a:p>
        </p:txBody>
      </p:sp>
      <p:pic>
        <p:nvPicPr>
          <p:cNvPr id="8" name="Picture 7" descr="Screenshot 2026-03-22 at 23.29.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82880"/>
            <a:ext cx="3474720" cy="47777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B8966E"/>
                </a:solidFill>
                <a:latin typeface="Calibri"/>
              </a:rPr>
              <a:t>PRÓXIMOS PASOS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566928"/>
            <a:ext cx="2286000" cy="16459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74980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① Confirmar silueta y escote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25295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② Elegir tejido y color exacto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007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③ Toma de medidas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④ Ajustes en capa y colas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1714"/>
                </a:solidFill>
                <a:latin typeface="Calibri"/>
              </a:rPr>
              <a:t>⑤ Primera prueba en atelier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3-22 at 23.31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714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Tu historia comienza aquí.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651760"/>
            <a:ext cx="2194560" cy="22860"/>
          </a:xfrm>
          <a:prstGeom prst="rect">
            <a:avLst/>
          </a:prstGeom>
          <a:solidFill>
            <a:srgbClr val="B8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B8966E"/>
                </a:solidFill>
                <a:latin typeface="Georgia"/>
              </a:rPr>
              <a:t>Diseñado para ti  ·  Hecho a medida  ·  Junio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A746E"/>
                </a:solidFill>
                <a:latin typeface="Calibri"/>
              </a:rPr>
              <a:t>ATELIER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